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บทนำ" id="{fcd48c5f-3815-301e-9ecf-447fe1a0a4c8}">
          <p14:sldIdLst>
            <p14:sldId id="256"/>
            <p14:sldId id="257"/>
            <p14:sldId id="258"/>
          </p14:sldIdLst>
        </p14:section>
        <p14:section name="ข้อมูล" id="{8e1777b7-2d5a-efe6-cce9-951c1b20e664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โมเดล" id="{1942f0d4-0780-2a7b-f40b-ffe53953ffdf}">
          <p14:sldIdLst>
            <p14:sldId id="265"/>
            <p14:sldId id="266"/>
            <p14:sldId id="267"/>
            <p14:sldId id="268"/>
            <p14:sldId id="269"/>
          </p14:sldIdLst>
        </p14:section>
        <p14:section name="ผลการทดลอง" id="{f902e820-aedd-f503-45f0-98364a061c6b}">
          <p14:sldIdLst>
            <p14:sldId id="270"/>
            <p14:sldId id="271"/>
            <p14:sldId id="272"/>
            <p14:sldId id="273"/>
            <p14:sldId id="274"/>
          </p14:sldIdLst>
        </p14:section>
        <p14:section name="อภิปรายและสรุป" id="{5234a8c3-9907-d25e-0ae1-6e82647dc651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A4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02A43"/>
                </a:solidFill>
                <a:latin typeface="+mn-lt"/>
              </a:rPr>
              <a:t>RMSE บน Validation (ต่ำกว่าดีกว่า) — with_spike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02A4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elastic_net</c:v>
                  </c:pt>
                  <c:pt idx="1">
                    <c:v>multiple_linear</c:v>
                  </c:pt>
                  <c:pt idx="2">
                    <c:v>simple_linear</c:v>
                  </c:pt>
                  <c:pt idx="3">
                    <c:v>polynomial</c:v>
                  </c:pt>
                  <c:pt idx="4">
                    <c:v>baseline_train_mean</c:v>
                  </c:pt>
                  <c:pt idx="5">
                    <c:v>baseline_persistence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0.0668063264164164</c:v>
                </c:pt>
                <c:pt idx="1">
                  <c:v>0.06886419975039984</c:v>
                </c:pt>
                <c:pt idx="2">
                  <c:v>0.06903844628342107</c:v>
                </c:pt>
                <c:pt idx="3">
                  <c:v>0.06906490874823573</c:v>
                </c:pt>
                <c:pt idx="4">
                  <c:v>0.07512236979061798</c:v>
                </c:pt>
                <c:pt idx="5">
                  <c:v>0.08261088919009445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100" u="none">
                  <a:solidFill>
                    <a:srgbClr val="102A4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9525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E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แนะนำหัวข้อและสมาชิก โครงงานนี้พยากรณ์ความผันผวนของกองทุน QQQ ล่วงหน้า 5 วันทำการ โดยเขียนโมเดล 19 ตัวเองทั้งหมด และเปิดข้อมูล Test เพียงครั้งเดียวหลังล็อกทุกอย่างแล้ว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ความผันผวนคือขนาดการแกว่งของราคา เราวัดจากส่วนเบี่ยงเบนมาตรฐานของผลตอบแทนรายวันแล้วแปลงเป็นหน่วยต่อปี โจทย์มีสองรูปแบบ คือทำนายเป็นตัวเลข และทำนายว่าจะผันผวนสูงหรือไม่ กราฟด้านขวาคือค่าที่ต้องทำนายตลอด 10 ปี จะเห็นว่าความผันผวนมาเป็นช่วง 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ความผันผวนถูกใช้ตรง ๆ ในงานการเงินสามอย่าง คำถามวิจัยของเราคือ วันที่ราคากระชากแรงผิดปกติซึ่งมีไม่กี่วัน ช่วยหรือทำร้ายการเรียนรู้ของโมเดล เราตอบด้วยการเทรนทุกโมเดลสองแบบแล้ววัดบนข้อมูลชุดเดียวกัน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ข้อมูลดิบมี 2,512 วันทำการ เราสร้างฟีเจอร์ 8 ตัวจากข้อมูลถึงสิ้นวัน t เท่านั้น โมเดลจึงไม่เห็นอนาคต โจทย์กำหนดขั้นต่ำ 5 ฟีเจอร์ ฟีเจอร์แบ่งเป็นกลุ่มผลตอบแทน กลุ่มความผันผวนย้อนหลัง กลุ่มแนวโน้ม และปริมาณซื้อขาย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สามข้อสังเกตจากข้อมูล หนึ่ง ฟีเจอร์กลุ่มความผันผวนย้อนหลังสัมพันธ์กับค่าที่ต้องทำนายมากที่สุด สอง ความผันผวน 5 วันกับ 20 วันซ้ำซ้อนกัน ซึ่งเป็นเหตุผลที่เราเลือก Elastic Net สาม เมื่อวัดว่าโมเดลใช้ฟีเจอร์ไหนจริง ความผันผวน 20 วันและ RSI สำคัญที่สุด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เหตุผลที่ใช้ ML มีสามข้อ ความสัมพันธ์ไม่ใช่เส้นตรงและเปลี่ยนตามสภาพตลาด การกระจายของ target เบ้ขวามาก และฟีเจอร์หลายตัวทำงานร่วมกัน แต่เราขอบอกตรง ๆ ว่าผลของเราถ่อมตัวกว่าที่คาด กฎง่าย ๆ ทำได้ใกล้เคียงโมเดลส่วนใหญ่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เราแบ่งข้อมูลตามลำดับเวลา 70 15 15 ถ้าสุ่ม วันในอนาคตจะปนเข้าไปในข้อมูลเทรนและได้คะแนนสูงเกินจริง เราเว้นช่องว่าง 5 วันทำการระหว่างชุด เพราะ target ใช้ข้อมูล 5 วันถัดไป และเส้นแบ่งผันผวนสูงคำนวณจาก Train เท่านั้น สังเกตว่าสัดส่วนวันผันผวนสูงของสามชุดต่างกันมาก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เรานิยาม spike เป็นวันที่ขนาดของผลตอบแทนรายวันเกิน Q3 บวก 3 เท่าของ IQR ของข้อมูลเทรน ได้เส้นแบ่งที่ 4.65 เปอร์เซ็นต์ พบ 23 วัน ส่วนใหญ่อยู่ช่วงต้นปี 2020 Validation ไม่มี spike เลย ส่วน Test มี 4 วัน เนื่องจาก spike หนึ่งวันกระทบแถวรอบข้างด้วย เราจึงตัดทั้งหน้าต่าง รวม 213 แถว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เราตัดเฉพาะข้อมูลเทรน ส่วน Validation และ Test เหมือนกันทั้งสองแบบ จึงเทียบกันได้ตรง ๆ แต่ต้องระวังการตีความ เพราะแถวที่ตัดส่วนใหญ่เป็นวันผันผวนสูง การตัดจึงเปลี่ยนสามอย่างพร้อมกัน คือจำนวนแถว สัดส่วนคลาส และช่วงตลาดที่โมเดลเห็น ผลต่างจึงเป็นผลของนโยบายตัดแถวทั้งชุด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regression มี 4 โมเดล สามตัวแรกแก้ด้วยสูตรปิด ส่วน Elastic Net เป็นโมเดลนอกเนื้อหาที่สอน ซึ่งจะอธิบายกลไกในสไลด์ถัดไป ทุกตัวเขียนด้วย NumPy และมี interface เดียวกันเพื่อให้เทรน บันทึก โหลด และเทียบกับ library ได้ด้วยโค้ดชุดเดียว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ฝั่ง classification มี 13 โมเดล แบ่งตามแนวคิดได้สี่กลุ่ม กลุ่มเชิงเส้นและความน่าจะเป็น กลุ่มระยะทางและโครงข่ายประสาท กลุ่มต้นไม้และ ensemble ซึ่งมี AdaBoost เป็นโมเดลนอกเนื้อหา และ clustering อีก 2 ตัวที่ไม่ใช้ label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 Net เพิ่มค่าปรับเมื่อน้ำหนักมีขนาดใหญ่ L1 ทำให้น้ำหนักบางตัวเป็นศูนย์พอดี เท่ากับคัดฟีเจอร์ทิ้ง ส่วน L2 ทำให้ฟีเจอร์ที่ซ้ำซ้อนกันแบ่งน้ำหนักกันอย่างนิ่ง เพราะพจน์ L1 หาอนุพันธ์ที่ศูนย์ไม่ได้ เราจึงใช้ coordinate descent ปรับน้ำหนักทีละตัวผ่าน soft-threshold ผลคือโมเดลดันน้ำหนัก 3 จาก 8 ตัวเป็นศูนย์ และตรงกับ scikit-learn ในระดับ 9 คูณ 10 ยกกำลังลบ 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AdaBoost สร้าง decision stump ต่อกันทีละตัว แต่ละรอบเทรน stump บนข้อมูลที่ถ่วงน้ำหนัก คำนวณความผิดพลาด ให้สิทธิ์ออกเสียงตามความแม่น แล้วเพิ่มน้ำหนักให้ตัวอย่างที่ทายผิด วิธีนี้เทียบเท่ากับการลด exponential loss ซึ่งไวต่อค่าสุดโต่ง เราจึงตั้งสมมติฐานไว้ก่อนว่า AdaBoost น่าจะได้ประโยชน์มากที่สุดเมื่อตัด spike ออก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เราพิสูจน์ความถูกต้องสามทาง หนึ่ง เทียบคำทำนายกับ library ทีละแถว 14 จาก 19 โมเดลตรงกันทุกแถว หรือต่างไม่เกินระดับ 1e-15 ตัวที่ต่างมีเหตุผลอธิบายได้ เช่นกฎหยุดวนรอบต่างกัน สอง โมเดลทั้ง 38 ชุดบันทึก โหลดกลับ แล้วทำนายได้ค่าเดิม สาม มี test อัตโนมัติกว่า 1,200 ข้อ รวม test ที่กันข้อมูลรั่ว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RMSE บน Validation ยิ่งต่ำยิ่งดี แท่งสีน้ำเงินคือโมเดลของเรา สีเทาคือ baseline ที่ไม่ต้องเทรน โมเดลทั้ง 4 ตัวดีกว่า baseline แต่ช่วงความเชื่อมั่นของทั้ง 4 ตัวซ้อนกัน จึงบอกไม่ได้ว่าตัวไหนดีที่สุด และ R กำลังสองอยู่ใกล้ศูนย์ เพราะ Validation สงบกว่าข้อมูลเทรนมาก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ก่อนดูตาราง ขอให้ดูตัวเลขซ้ายมือ ถ้าทายว่าไม่ผันผวนสูงทุกวัน จะได้ accuracy 90.8 เปอร์เซ็นต์ โดยจับวันผันผวนสูงไม่ได้เลย เราจึงไม่ใช้ accuracy เป็นหลัก และใช้ average precision แทน ในตาราง แถวที่เน้นคือ baseline จะเห็นว่ากฎที่ไม่ต้องเทรนทำได้ใกล้เคียงโมเดล และทั้ง 13 โมเดลแยกจากอันดับหนึ่งไม่ได้ทางสถิติ ตาราง metric ครบทุกตัวตามโจทย์อยู่ในรายงาน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กราฟซ้ายคือ ROC ของ classifier ทั้ง 13 ตัว เส้นทแยงคือการเดาสุ่ม กราฟขวาคือ precision-recall ซึ่งเหมาะกับข้อมูลที่คลาสไม่สมดุลมากกว่า เส้นของโมเดลส่วนใหญ่เกาะกลุ่มกัน สอดคล้องกับตารางที่ว่าแยกอันดับไม่ได้ เส้นที่อยู่ใต้เส้นทแยงคือ perceptron ซึ่งไม่ลู่เข้า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กราฟแสดง loss ต่อรอบการเทรนของโมเดลที่เรียนแบบวนรอบ เส้นที่ลดลงแล้วราบแปลว่าลู่เข้า perceptron แกว่งไม่ลู่เข้าเพราะข้อมูลแยกด้วยเส้นตรงไม่ได้ ซึ่งอธิบายคะแนนที่แย่ของมัน ส่วน logistic และ slp หยุดเพราะครบโควตารอบ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นี่คือผลที่สำคัญที่สุด เพราะ Test ถูกเปิดครั้งเดียวหลังล็อกโมเดลและชื่อโมเดลตัวแทนไว้แล้ว โมเดลตัวแทนของ with_spike คือ MLP ได้ AP 0.60 ดีกว่า baseline แต่โมเดลตัวแทนของ non_spike คือ random forest กลับได้ต่ำกว่า baseline ทั้งที่เป็นอันดับหนึ่งบน Validation นี่คือ selection bias ฝั่ง regression Elastic Net ดีกว่า baseline ทั้งสองแบบ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นี่คือคำตอบของคำถามวิจัย กราฟแสดงผลต่างของ AP เมื่อตัด spike ออก พร้อมช่วงความเชื่อมั่น 95 เปอร์เซ็นต์บน Validation เกือบทุกโมเดลช่วงคร่อมศูนย์ บน Test ผลแบ่งครึ่ง และโมเดลที่ช่วงไม่คร่อมศูนย์ชี้ไปคนละทาง ข้อสรุปคือ ข้อมูลไม่สนับสนุนว่าการตัด spike ช่วยหรือทำร้ายโมเดล AdaBoost ดีขึ้นมากที่สุดบน Test ตามสมมติฐาน แต่ยังเป็นเพียงข้อสังเกต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เมื่อแยกผล Test ตามช่วงตลาด ภาพชัดขึ้นมาก จุดสีน้ำเงินคือช่วงปกติ โมเดลเกือบทุกตัวได้ ROC-AUC ราว 0.7 ถึง 0.77 จุดสีส้มคือช่วงรอบวัน spike ซึ่งกระจายอยู่รอบเส้น 0.5 แปลว่าภายในช่วงปั่นป่วน โมเดลแยกไม่ได้ว่าวันไหนจะผันผวนสูง และเมื่อเทียบกับโมเดลพื้นฐานที่สอนในห้อง MLP ดีกว่า logistic 8.6 เปอร์เซ็นต์ แต่ยังแยกจากความบังเอิญไม่ได้ เราจึงไม่อ้างว่าโมเดลซับซ้อนดีกว่าอย่างมีนัยสำคัญ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สรุปสามข้อ หนึ่ง โมเดลทำนายได้ดีกว่าเดาสุ่ม แต่เหนือกว่ากฎง่าย ๆ เพียงเล็กน้อย สอง ยังสรุปไม่ได้ว่าการตัด spike ช่วยหรือทำร้าย สาม โมเดลทำงานได้ในช่วงปกติแต่ไม่ใช่ช่วงปั่นป่วน ข้อจำกัดหลักคือ Validation เป็นสภาพตลาดแบบเดียว ตัวอย่างไม่อิสระต่อกัน และการเทียบสองแบบข้อมูลถูก confound งานต่อคือเพิ่มฟีเจอร์ที่มองไปข้างหน้า เช่น VIX และทำกลุ่มควบคุมสำหรับการทดลอง spike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QQQ Volatility Forecasting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การพยากรณ์ความผันผวนของ QQQ ล่วงหน้า 5 วันทำการ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QQQ Volatility Forecasting · โครงงานวิชา 01076641 · ตุลาคม 2569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434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[ชื่อ–นามสกุล และรหัสนักศึกษาของสมาชิก]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2,512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วันทำการของข้อมูลราคา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โมเดลที่เขียนเองด้วย NumPy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4983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5715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ครั้งที่เปิด Test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โจทย์: ทำนายความผันผวน 5 วันข้างหน้า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Regression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ทำนายค่าความผันผวนของ 5 วันทำการข้างหน้า (target_volatility_5d)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41148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Classification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07408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ทำนายว่าจะเป็นช่วง “ผันผวนสูง” หรือไม่ คือค่าเกินควอร์ไทล์ที่ 3 ของข้อมูลเทรน</a:t>
            </a:r>
            <a:endParaRPr lang="en-US" sz="1400" dirty="0"/>
          </a:p>
        </p:txBody>
      </p:sp>
      <p:pic>
        <p:nvPicPr>
          <p:cNvPr id="10" name="Image 0" descr="ค่า target ตามเวลา แบ่งเป็น Train Validation T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371492"/>
            <a:ext cx="6702552" cy="252649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37760" y="589788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ข้อมูล: ราคารายวันของ QQQ 31 ส.ค. 2016 – 28 ส.ค.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ทำไมสำคัญ และเราถามคำถามอะไร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ตั้งราคา option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ความผันผวนเป็นตัวแปรหลักของราคา option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9768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กำหนดขนาดการลงทุน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ตลาดปั่นป่วนควรถือสถานะเล็กลง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046720" y="1463040"/>
            <a:ext cx="35204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45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บริหารความเสี่ยง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2140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รู้ล่วงหน้า 5 วัน ป้องกันความเสี่ยงได้ทัน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520440"/>
            <a:ext cx="11091672" cy="2377440"/>
          </a:xfrm>
          <a:prstGeom prst="roundRect">
            <a:avLst>
              <a:gd name="adj" fmla="val 538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คำถามวิจัย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ถ้าตัดช่วงที่ราคากระชากแรง (spike) ออกจากข้อมูลเทรน โมเดลจะทำนายได้ดีขึ้นหรือแย่ลง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521208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เทรนทุกโมเดลสองแบบ: with_spike (ข้อมูลเต็ม) และ non_spike (ตัดช่วง spike ออก) แล้ววัดบนข้อมูลชุดเดียวกัน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ข้อมูล 10 ปี และฟีเจอร์ 8 ตัว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2,512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วันทำการ (ตรึงเป็น snapshot)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5079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 คำนวณจากข้อมูลถึงวัน t เท่านั้น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84632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2,487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424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แถวที่ใช้ได้ หลังตัดแถวที่คำนวณไม่ครบ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63040"/>
          <a:ext cx="75255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33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ฟีเจอร์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ความหมาย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return_1d, return_5d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ผลตอบแทน 1 วัน และสะสม 5 วัน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historical_volatility_5d, _20d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ความผันผวนของ 5 และ 20 วันที่ผ่านมา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intraday_range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การแกว่งตัวภายในวัน (สูงสุด − ต่ำสุด) ÷ ปิด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sma_ratio_5_20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ราคาอยู่เหนือหรือใต้แนวโน้ม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rsi_14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ภาวะซื้อมากหรือขายมากเกินไป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volume_zscore_20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ปริมาณซื้อขายผิดปกติแค่ไหน</a:t>
                      </a:r>
                      <a:endParaRPr lang="en-US" sz="15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ฟีเจอร์บอกอะไรเรา</a:t>
            </a:r>
            <a:endParaRPr lang="en-US" sz="3200" dirty="0"/>
          </a:p>
        </p:txBody>
      </p:sp>
      <p:pic>
        <p:nvPicPr>
          <p:cNvPr id="4" name="Image 0" descr="สหสัมพันธ์ระหว่างฟีเจอร์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012" y="1463040"/>
            <a:ext cx="5243976" cy="4709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0.64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8458200" y="153619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สหสัมพันธ์ระหว่างความผันผวน 5 วันย้อนหลังกับ target สูงสุดในบรรดาฟีเจอร์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0.80</a:t>
            </a:r>
            <a:endParaRPr lang="en-US" sz="3800" dirty="0"/>
          </a:p>
        </p:txBody>
      </p:sp>
      <p:sp>
        <p:nvSpPr>
          <p:cNvPr id="8" name="Text 4"/>
          <p:cNvSpPr txBox="1"/>
          <p:nvPr/>
        </p:nvSpPr>
        <p:spPr>
          <a:xfrm>
            <a:off x="8458200" y="310896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ความผันผวน 5 วัน กับ 20 วัน ซ้ำซ้อนกัน เป็นเหตุผลที่เลือก Elastic Net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675120" y="4608576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</a:rPr>
              <a:t>2 ตัว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8458200" y="4681728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ที่โมเดลพึ่งมากที่สุด: historical_volatility_20d และ rsi_14 (permutation importance)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ทำไมต้องใช้ Machine Learning</a:t>
            </a:r>
            <a:endParaRPr lang="en-US" sz="3200" dirty="0"/>
          </a:p>
        </p:txBody>
      </p:sp>
      <p:pic>
        <p:nvPicPr>
          <p:cNvPr id="4" name="Image 0" descr="การกระจายของ target บนข้อมูลเทร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8273"/>
            <a:ext cx="5394960" cy="294713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309360" y="1463040"/>
            <a:ext cx="5330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ความผันผวนกระจุกตัวเป็นช่วง และความสัมพันธ์เปลี่ยนตามสภาพตลาด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target เบ้ขวามาก (skewness 2.80, kurtosis 16.26) ต่างจากสมมติฐานของวิธีสถิติพื้นฐาน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ฟีเจอร์หลายตัวทำงานร่วมกัน เขียนกฎ if-then ด้วยมือให้ครบไม่ไหว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6309360" y="4343400"/>
            <a:ext cx="5330952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10528" y="4453128"/>
            <a:ext cx="49286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ผลจริง: กฎ “5 วันข้างหน้าเท่ากับ 5 วันที่ผ่านมา” ทำได้ใกล้เคียงโมเดลส่วนใหญ่ ML ช่วยเพิ่มจริง แต่ไม่มาก เมื่อใช้เพียงราคาย้อนหลัง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แบ่งข้อมูลตามเวลา ไม่สุ่ม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Train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1,733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29 ก.ย. 2016 – 18 ส.ค. 2023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25.0%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371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28 ส.ค. 2023 – 19 ก.พ. 2025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9.2% (34 วัน)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Test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373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0175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27 ก.พ. 2025 – 21 ส.ค.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ผันผวนสูง 19.6%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43484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07008" y="443484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ไม่สุ่ม: แบ่งตามลำดับเวลา กันข้อมูลอนาคตรั่ว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001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07008" y="5001768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เว้น 5 วันทำการระหว่างชุด เพราะ target มองไปข้างหน้า 5 วัน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55686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207008" y="556869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เส้นแบ่ง “ผันผวนสูง” (0.2531) คำนวณจาก Train เท่านั้น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Spike คือวันที่ราคาขยับเกิน 4.65%</a:t>
            </a:r>
            <a:endParaRPr lang="en-US" sz="3200" dirty="0"/>
          </a:p>
        </p:txBody>
      </p:sp>
      <p:pic>
        <p:nvPicPr>
          <p:cNvPr id="4" name="Image 0" descr="ผลตอบแทนรายวันและวันที่เป็น spi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1463040"/>
            <a:ext cx="6062472" cy="46634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229600" y="1463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23 วัน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0" y="23591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Train 19 · Validation 0 · Test 4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8229600" y="31089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213 แถว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0" y="40050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ถูกตัดออกจาก Train (5 วันก่อน ถึง 19 วันหลัง spike)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0" y="4892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เส้นแบ่ง = Q3 + 3 × IQR ของขนาดผลตอบแทนรายวัน คำนวณจาก Train เท่านั้น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สองชุดข้อมูลเทรน วัดบนชุดเดียวกัน</a:t>
            </a:r>
            <a:endParaRPr lang="en-US" sz="3200" dirty="0"/>
          </a:p>
        </p:txBody>
      </p:sp>
      <p:pic>
        <p:nvPicPr>
          <p:cNvPr id="4" name="Image 0" descr="เปรียบเทียบข้อมูลเทรนสองแบ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6994"/>
            <a:ext cx="5669280" cy="2429691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1508760"/>
                <a:gridCol w="1508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with_spike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non_spike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แถวของ Train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1,733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1,520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วันผันผวนสูง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433 (25.0%)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280 (18.4%)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Validation / Test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เหมือนกัน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6492240" y="3657600"/>
            <a:ext cx="5148072" cy="1463040"/>
          </a:xfrm>
          <a:prstGeom prst="roundRect">
            <a:avLst>
              <a:gd name="adj" fmla="val 625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6693408" y="3767328"/>
            <a:ext cx="474573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แถวที่ตัดออก 213 แถว เป็นวันผันผวนสูงถึง 71.8% ผลต่างจึงเป็นผลของ “นโยบายตัดแถวทั้งชุด” ไม่ใช่ผลของ spike อย่างเดียว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Regression 4 ตัว เขียนเองทั้งหมด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Simple Linear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เส้นตรงจากฟีเจอร์เดียว ลองทั้ง 8 ฟีเจอร์แล้วเลือกตัวที่ดีที่สุด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17220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6459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Multiple Linear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212140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เส้นตรงจากทั้ง 8 ฟีเจอร์ แก้ด้วย least squares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Polynomial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ยกกำลังฟีเจอร์เดียว (ดีกรี 2 หรือ 3) แล้วทำ linear regression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886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Elastic Net ★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36168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linear regression ที่มีค่าปรับ L1 และ L2 แก้ด้วย coordinate descent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★ โมเดลนอกเนื้อหาที่สอน · ทุกตัวมี fit, predict, save, load และ reference() สำหรับเทียบกับ library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Classification 13 ตัว และ Clustering 2 ตัว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เชิงเส้นและความน่าจะเป็น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gaussian_nb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slp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svm (+ PCA)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364992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47872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ระยะทางและโครงข่ายประสาท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547872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mlp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81344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DEBE3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64224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ต้นไม้และ ensemble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364224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decision_tree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random_forest (+ PCA)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gradient_boosting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xgboost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adaboost ★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stacking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997696" y="1463040"/>
            <a:ext cx="2633472" cy="4297680"/>
          </a:xfrm>
          <a:prstGeom prst="roundRect">
            <a:avLst>
              <a:gd name="adj" fmla="val 4167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80576" y="1645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Clustering (ไม่ใช้ label)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246888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kmeans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agglomerative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ลองการตั้งค่ารวม 140 แบบต่อชุดข้อมูล เหลือผู้ชนะ 38 ชุด (19 โมเดล × 2 แบบข้อมูล)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Elastic Net: linear regression ที่มีค่าปรับ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043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J(w) = (1/2n)·‖y − Xw‖²  +  α·ρ·‖w‖₁  +  α·(1−ρ)/2·‖w‖²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L1: คัดฟีเจอร์ทิ้ง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ทำให้น้ำหนักบางตัวเป็นศูนย์พอดี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L2: แบ่งน้ำหนักให้นิ่ง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ฟีเจอร์ที่ซ้ำซ้อนกันไม่แย่งน้ำหนักกันไปมา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27432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29260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Coordinate descent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40156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ปรับน้ำหนักทีละตัวด้วย soft-threshold: w_j = S(ρ_j, α·ρ) / (z_j + α·(1−ρ))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 จาก 8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น้ำหนักที่ถูกดันเป็นศูนย์ (α = 0.1, l1_ratio = 0.25)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47548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≤ 9e-07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56509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ผลต่างของคำทำนายเทียบกับ ElasticNet ของ scikit-learn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AdaBoost: โมเดลอ่อนต่อกัน แก้จุดที่ผิด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เทรน stump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บนข้อมูลที่ถ่วงน้ำหนัก w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4992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47872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วัดความผิดพลาด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ε = ผลรวมน้ำหนักของตัวที่ทายผิด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81344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64224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4224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ให้สิทธิ์ออกเสียง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64224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α = lr · ln((1 − ε) / ε)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97696" y="1463040"/>
            <a:ext cx="2633472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180576" y="16459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80576" y="1645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80576" y="2240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ปรับน้ำหนัก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9180576" y="267004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ตัวที่ทายผิดคูณด้วย exp(α)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6675120" cy="1234440"/>
          </a:xfrm>
          <a:prstGeom prst="roundRect">
            <a:avLst>
              <a:gd name="adj" fmla="val 740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9808" y="3950208"/>
            <a:ext cx="627278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สมมติฐานที่ตั้งไว้ก่อนทดลอง: exponential loss ไวต่อค่าสุดโต่ง AdaBoost จึงน่าจะได้ประโยชน์มากที่สุดเมื่อตัด spike ออก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257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ผลลัพธ์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77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stump 100 ตัว, learning_rate 0.5 · ตรงกับ AdaBoostClassifier ของ scikit-learn ทุกแถว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680960" y="3840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0.25 → 0.49</a:t>
            </a:r>
            <a:endParaRPr lang="en-US" sz="4400" dirty="0"/>
          </a:p>
        </p:txBody>
      </p:sp>
      <p:sp>
        <p:nvSpPr>
          <p:cNvPr id="29" name="Text 26"/>
          <p:cNvSpPr txBox="1"/>
          <p:nvPr/>
        </p:nvSpPr>
        <p:spPr>
          <a:xfrm>
            <a:off x="7680960" y="47365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ความผิดพลาด ε ของ stump ตัวแรก เทียบกับตัวท้าย ๆ ซึ่งแทบไม่มีสิทธิ์ออกเสียง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พิสูจน์ว่าเขียนถูก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 จาก 19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โมเดลที่ตรงกับ scikit-learn / XGBoost ถึงระดับ 1e-15 หรือตรงทุกแถว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38 / 38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save → load → ทำนายซ้ำ ได้ค่าเดิม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1,200+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5915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อัตโนมัติ รวม test กันข้อมูลรั่ว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อีก 5 โมเดล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ผลต่าง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เหตุผล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2e-06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กฎหยุดวนรอบต่างจาก scikit-learn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svm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objective ≤ 3e-06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solver ต่างกัน ได้คำตอบเดียวกันในระดับค่าคลาดเคลื่อน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≤ 1e-03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 5,000 รอบ ก่อนลู่เข้าสมบูรณ์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0.07 – 0.29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หยุดที่โควตา 1,000 รอบ ขณะที่โมเดลอ้างอิงลู่เข้าแล้ว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stacking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ไม่มี library เทียบตรง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ตรวจด้วยการสร้าง fold ซ้ำ และ test กันข้อมูลรั่ว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Regression บน Validation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0" y="1645920"/>
            <a:ext cx="395935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โมเดลทั้ง 4 ตัวได้ RMSE ต่ำกว่า baseline ทั้งสองตัว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ทั้ง 4 ตัวแยกจากกันไม่ได้ทางสถิติ จึงไม่อ้างว่าตัวใดดีที่สุด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R² ของ elastic_net เพียง 0.017 เพราะ Validation สงบกว่า Train มาก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768096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สีน้ำเงิน = โมเดล · สีเทา = baseline ที่ไม่ต้องเทรน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 Classification บน Validation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90.8%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5915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accuracy ของการทาย “ไม่ผันผวนสูง” ทุกวัน (337 จาก 371) โดยจับไม่ได้สักวัน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393192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4041648"/>
            <a:ext cx="288950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ทั้ง 13 โมเดลแยกจากอันดับหนึ่งไม่ได้ทางสถิติ เพราะมีวันผันผวนสูงเพียง 34 วัน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463040"/>
          <a:ext cx="74340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68680"/>
                <a:gridCol w="1143000"/>
                <a:gridCol w="822960"/>
                <a:gridCol w="914400"/>
                <a:gridCol w="1216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โมเดล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Accuracy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0.320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0.255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0.686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0.206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logistic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0.673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0.261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adaboost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0.236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0.677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0.222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0.176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0.887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baseline_persistence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0.247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0.721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0.294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0.868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baseline_majority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0.092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0.500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0.000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0.908</a:t>
                      </a:r>
                      <a:endParaRPr lang="en-US" sz="14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206240" y="4892040"/>
            <a:ext cx="7434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 = average precision (การเดาสุ่ม = 0.092) · แถวที่เน้นคือ baseline ที่ไม่ต้องเทรน · metric ครบทุกตัวตามโจทย์อยู่ในรายงานหัวข้อ 7.2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ROC และ Precision-Recall</a:t>
            </a:r>
            <a:endParaRPr lang="en-US" sz="3200" dirty="0"/>
          </a:p>
        </p:txBody>
      </p:sp>
      <p:pic>
        <p:nvPicPr>
          <p:cNvPr id="4" name="Image 0" descr="ROC ของ classifier ทั้ง 13 ตั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26" y="1463040"/>
            <a:ext cx="5033108" cy="4480560"/>
          </a:xfrm>
          <a:prstGeom prst="rect">
            <a:avLst/>
          </a:prstGeom>
        </p:spPr>
      </p:pic>
      <p:pic>
        <p:nvPicPr>
          <p:cNvPr id="5" name="Image 1" descr="Precision-recall ของ classifier ทั้ง 13 ตั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3418" y="1463040"/>
            <a:ext cx="5033108" cy="44805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Validation, with_spike · เส้นส่วนใหญ่เกาะกลุ่มกัน · เส้นที่อยู่ใต้เส้นทแยงคือ perceptron ซึ่งไม่ลู่เข้า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Performance curve: loss ระหว่างเทรน</a:t>
            </a:r>
            <a:endParaRPr lang="en-US" sz="3200" dirty="0"/>
          </a:p>
        </p:txBody>
      </p:sp>
      <p:pic>
        <p:nvPicPr>
          <p:cNvPr id="4" name="Image 0" descr="loss ระหว่างเทรนของแต่ละโมเดล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8803"/>
            <a:ext cx="7589520" cy="445191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503920" y="1554480"/>
            <a:ext cx="313639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เส้นที่ลดลงแล้วราบ = ลู่เข้าแล้ว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perceptron แกว่งไม่ลู่เข้า เพราะข้อมูลแยกด้วยเส้นตรงไม่ได้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 และ slp หยุดเพราะครบโควตารอบ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knn, tree, forest, naive Bayes ไม่มีกราฟ เพราะไม่ได้ลด loss ทีละรอบ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ผลบน Test: เปิดครั้งเดียว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325880"/>
                <a:gridCol w="1600200"/>
                <a:gridCol w="1188720"/>
                <a:gridCol w="2240280"/>
                <a:gridCol w="2084832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งาน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แบบข้อมูล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โมเดลตัวแทน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Validation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Test [ช่วง 95%]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baseline ที่ดีที่สุด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ชนะ baseline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0.599 [0.261, 0.760]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classification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random_forest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0.301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0.524 [0.216, 0.680]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0.536 (persistence)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ไม่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E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0.117 [0.071, 0.175]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0.138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non_spike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elastic_net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0.123 [0.069, 0.186]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0.140 (train_mean)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3977640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39776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1207008" y="3977640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ล็อก hash ของ 38 โมเดล และชื่อโมเดลตัวแทน ก่อนเปิด Test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548640" y="454456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544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207008" y="4544568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ไม่เทรนใหม่ ไม่เลือกใหม่ ไม่ปรับ threshold หลังเห็นผล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111496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5111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07008" y="5111496"/>
            <a:ext cx="5669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โปรแกรมบันทึกใบรับรอง และปฏิเสธการรันซ้ำ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949440" y="3931920"/>
            <a:ext cx="4690872" cy="1691640"/>
          </a:xfrm>
          <a:prstGeom prst="roundRect">
            <a:avLst>
              <a:gd name="adj" fmla="val 5405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50608" y="4041648"/>
            <a:ext cx="428853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random_forest เป็นอันดับ 1 บน Validation แต่ตกไปอันดับ 10 จาก 13 บน Test: ผู้นำบน Validation ไม่จำเป็นต้องเป็นผู้นำบนข้อมูลใหม่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classification วัดด้วย average precision (สูงกว่าดีกว่า) · regression วัดด้วย RMSE (ต่ำกว่าดีกว่า)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ตัด spike แล้วดีขึ้นไหม: ยังสรุปไม่ได้</a:t>
            </a:r>
            <a:endParaRPr lang="en-US" sz="3200" dirty="0"/>
          </a:p>
        </p:txBody>
      </p:sp>
      <p:pic>
        <p:nvPicPr>
          <p:cNvPr id="4" name="Image 0" descr="ผลต่างของ AP เมื่อตัด spike ออก บน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463040"/>
            <a:ext cx="5349240" cy="4572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675120" y="14630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16 จาก 17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6675120" y="23591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Validation ที่ช่วงของผลต่างคร่อมศูนย์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675120" y="3063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14 จาก 17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6675120" y="395935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โมเดลบน Test ที่ช่วงคร่อมศูนย์ · classifier ดีขึ้น 7 ตัว แย่ลง 6 ตัว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675120" y="4709160"/>
            <a:ext cx="4937760" cy="1371600"/>
          </a:xfrm>
          <a:prstGeom prst="roundRect">
            <a:avLst>
              <a:gd name="adj" fmla="val 6667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76288" y="4818888"/>
            <a:ext cx="45354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คำตอบ: ข้อมูลไม่สนับสนุนว่าการตัดช่วง spike ช่วยหรือทำร้ายโมเดล AdaBoost ดีขึ้นมากที่สุดบน Test (0.486 → 0.544) แต่ช่วงยังคร่อมศูนย์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โมเดลเก่งช่วงปกติ ไม่เก่งช่วงปั่นป่วน</a:t>
            </a:r>
            <a:endParaRPr lang="en-US" sz="3200" dirty="0"/>
          </a:p>
        </p:txBody>
      </p:sp>
      <p:pic>
        <p:nvPicPr>
          <p:cNvPr id="4" name="Image 0" descr="ROC-AUC บน Test แยกตามช่วงตลา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7164"/>
            <a:ext cx="7223760" cy="2620713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046720" y="1463040"/>
            <a:ext cx="3593592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275320" y="164592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ช่วงปกติ (319 แถว)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8275320" y="212140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ราว 0.70 – 0.77 ดีกว่าการเดาสุ่มชัดเจน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8046720" y="3108960"/>
            <a:ext cx="3593592" cy="1463040"/>
          </a:xfrm>
          <a:prstGeom prst="roundRect">
            <a:avLst>
              <a:gd name="adj" fmla="val 75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329184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ช่วงรอบวัน spike (54 แถว)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75320" y="376732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ROC-AUC กระจายรอบ 0.5 แยกวันผันผวนสูงไม่ได้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754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เทียบกับโมเดลที่สอนในห้อง (บน Test)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1389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mlp ดีกว่า logistic 8.6% แต่ช่วง 95% ของผลต่างคร่อมศูนย์ · random_forest และ elastic_net แย่กว่าโมเดลพื้นฐานเล็กน้อย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46720" y="4754880"/>
            <a:ext cx="3593592" cy="1097280"/>
          </a:xfrm>
          <a:prstGeom prst="roundRect">
            <a:avLst>
              <a:gd name="adj" fmla="val 8333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47888" y="4864608"/>
            <a:ext cx="31912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เราจึงไม่อ้างว่าโมเดลซับซ้อนดีกว่าโมเดลพื้นฐานอย่างมีนัยสำคัญ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สรุป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ข้อค้นพบ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011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20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ทำนายได้ดีกว่าเดาสุ่มชัดเจน แต่เหนือกว่ากฎ “เท่ากับ 5 วันที่ผ่านมา” เพียงเล็กน้อย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154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063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ตัด spike ออกจากข้อมูลเทรน: ยังสรุปไม่ได้ว่าช่วยหรือทำร้าย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29768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297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4206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โมเดลทำงานได้ในช่วงปกติ แต่แยกวันผันผวนสูงภายในช่วงปั่นป่วนไม่ได้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675120" y="1463040"/>
            <a:ext cx="4965192" cy="4480560"/>
          </a:xfrm>
          <a:prstGeom prst="roundRect">
            <a:avLst>
              <a:gd name="adj" fmla="val 28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ข้อจำกัดที่ยอมรับ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219456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Validation เป็นสภาพตลาดแบบเดียว มีวันผันผวนสูง 34 วัน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ตัวอย่างไม่อิสระต่อกัน ช่วงความเชื่อมั่นจึงกว้าง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การเทียบสองแบบข้อมูลถูก confound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ใช้เฉพาะราคาย้อนหลัง ไม่มี VIX หรือปฏิทินเหตุการณ์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4937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งานต่อ: เพิ่มฟีเจอร์ที่มองไปข้างหน้า และทำกลุ่มควบคุมสำหรับการทดลอง spike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QQ Volatility">
  <a:themeElements>
    <a:clrScheme name="QQQ Volatility">
      <a:dk1>
        <a:srgbClr val="102A43"/>
      </a:dk1>
      <a:lt1>
        <a:srgbClr val="FFFFFF"/>
      </a:lt1>
      <a:dk2>
        <a:srgbClr val="334E68"/>
      </a:dk2>
      <a:lt2>
        <a:srgbClr val="F0F4F8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QQQ Volatility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QQQ Volatility Forecasting</dc:title>
  <dc:subject>PptxGenJS Presentation</dc:subject>
  <dc:creator>QQQ Volatility Forecasting team</dc:creator>
  <cp:lastModifiedBy>QQQ Volatility Forecasting team</cp:lastModifiedBy>
  <cp:revision>1</cp:revision>
  <dcterms:created xsi:type="dcterms:W3CDTF">2026-10-11T14:54:57Z</dcterms:created>
  <dcterms:modified xsi:type="dcterms:W3CDTF">2026-10-11T14:54:57Z</dcterms:modified>
</cp:coreProperties>
</file>